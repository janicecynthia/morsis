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cde86d8-4a92-e974-53d1-19444170ddd0}">
          <p14:sldIdLst>
            <p14:sldId id="256"/>
          </p14:sldIdLst>
        </p14:section>
        <p14:section name="Opportunity" id="{7cdfada0-36af-d076-443a-880d98877626}">
          <p14:sldIdLst>
            <p14:sldId id="257"/>
          </p14:sldIdLst>
        </p14:section>
        <p14:section name="Product" id="{67cc2d56-51d3-a124-bb97-0c153e72d9dc}">
          <p14:sldIdLst>
            <p14:sldId id="258"/>
            <p14:sldId id="259"/>
          </p14:sldIdLst>
        </p14:section>
        <p14:section name="Business" id="{1a575ee0-32d0-ec60-8756-0d07079fc7d0}">
          <p14:sldIdLst>
            <p14:sldId id="260"/>
            <p14:sldId id="261"/>
          </p14:sldIdLst>
        </p14:section>
        <p14:section name="Close" id="{4f12477f-5a97-028a-01ce-96d3f196f46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line, not the product. Morsis is an interspecies signal lab: we record, decode and, under protocol, answer animal signals. Today we're raising a seed round to take a working prototype into the field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science is no longer the question. Names in elephants and dolphins, descriptive alarm calls in prairie dogs, syntax in birds. What's missing is the instrument: a way to listen across species at scale and respond responsibly. That's the gap Morsis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FT-1 is the hardware; Decode-3 is the model. Listen, Segment, Map meaning, Emit. The emit layer is what makes this more than a recorder: replies are composed from units the species already uses, and only under permits and welfare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reply shape from our console. The visitor speaks, the prairie dog answers, and Decode-3 shows its working: the signal, the decoded hypothesis, a confidence score and the published research it rests on. That honesty is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sell to organisations that already spend money to understand animals: conservation agencies, offshore operators with marine-mammal obligations, zoos and aquariums, and research labs. Four revenue lines: software subscription, hardware leasing, bundles and API/data licensing. What we don't sell: collars, toys or pet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we are today: 112,000 hours of field recordings across six species and fourteen field stations, and a working four-layer FT-1. The moat is the data flywheel: every channel opened adds context that improves Decode-3. Our ethics protocol is part of the product, which is what lets agencies and regulators say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near-term plan is to go from six species to twenty and put an FT-1 fleet in the field with partner agencies, then open Decode-3 as an API. The long game is an open standard for interspecies communication. We're raising a $6M seed: most of it goes to field stations and hardware, then research, then partnerships and our ethics board. [Placeholder figures: confirm before presenting.]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sis 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sis Content 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-claude-spares-spare-ATsgXI\a3bcac27-83b4-4a82-b9f2-009521039e26\scratchpad\deck\img\logo-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749808" cy="146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Interspecies Signal Lab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rsis Content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--claude-spares-spare-ATsgXI\a3bcac27-83b4-4a82-b9f2-009521039e26\scratchpad\deck\img\logo-dark-20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749808" cy="146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Interspecies Signal Lab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image" descr="C:\Users\User\AppData\Local\Temp\claude\C--Users-User--claude-spares-spare-ATsgXI\a3bcac27-83b4-4a82-b9f2-009521039e26\scratchpad\deck\img\K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pic>
        <p:nvPicPr>
          <p:cNvPr id="3" name="Logo" descr="C:\Users\User\AppData\Local\Temp\claude\C--Users-User--claude-spares-spare-ATsgXI\a3bcac27-83b4-4a82-b9f2-009521039e26\scratchpad\deck\img\logo-lime-2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1399032" cy="27432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1417320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chemeClr val="bg1"/>
                </a:solidFill>
              </a:rPr>
              <a:t>Understanding the 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oldest conversation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chemeClr val="bg1"/>
                </a:solidFill>
              </a:rPr>
              <a:t>on Earth</a:t>
            </a:r>
            <a:endParaRPr lang="en-US" sz="32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Morsis is building the translation layer between humans and animals: an instrument and a model that turn speech into signals animals understand, and their signals back into ours.</a:t>
            </a:r>
            <a:endParaRPr lang="en-US" sz="1300" dirty="0"/>
          </a:p>
        </p:txBody>
      </p:sp>
      <p:sp>
        <p:nvSpPr>
          <p:cNvPr id="6" name="Footer line"/>
          <p:cNvSpPr txBox="1"/>
          <p:nvPr/>
        </p:nvSpPr>
        <p:spPr>
          <a:xfrm>
            <a:off x="54864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1"/>
                </a:solidFill>
              </a:rPr>
              <a:t>INVESTOR PRESENTATION  ·  SEED ROUND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Animals already speak. </a:t>
            </a:r>
            <a:pPr algn="l"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Science just proved it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463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the last 15 years, peer-reviewed field research has shown that animal signals carry names, descriptions and grammar.</a:t>
            </a:r>
            <a:endParaRPr lang="en-US" sz="1500" dirty="0"/>
          </a:p>
        </p:txBody>
      </p:sp>
      <p:sp>
        <p:nvSpPr>
          <p:cNvPr id="5" name="Gap"/>
          <p:cNvSpPr txBox="1"/>
          <p:nvPr/>
        </p:nvSpPr>
        <p:spPr>
          <a:xfrm>
            <a:off x="457200" y="2606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The gap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That knowledge lives in papers and hard drives. Nobody has turned it into an instrument that listens at scale and answers back, under protocol.</a:t>
            </a:r>
            <a:endParaRPr lang="en-US" sz="1300" dirty="0"/>
          </a:p>
        </p:txBody>
      </p:sp>
      <p:sp>
        <p:nvSpPr>
          <p:cNvPr id="6" name="Finding 1 card"/>
          <p:cNvSpPr/>
          <p:nvPr/>
        </p:nvSpPr>
        <p:spPr>
          <a:xfrm>
            <a:off x="3931920" y="1463040"/>
            <a:ext cx="2286000" cy="1399032"/>
          </a:xfrm>
          <a:prstGeom prst="roundRect">
            <a:avLst>
              <a:gd name="adj" fmla="val 52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Finding 1"/>
          <p:cNvSpPr txBox="1"/>
          <p:nvPr/>
        </p:nvSpPr>
        <p:spPr>
          <a:xfrm>
            <a:off x="4096512" y="1609344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Elephants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call each other by name-like calls.</a:t>
            </a:r>
            <a:endParaRPr lang="en-US" sz="1500" dirty="0"/>
          </a:p>
        </p:txBody>
      </p:sp>
      <p:sp>
        <p:nvSpPr>
          <p:cNvPr id="8" name="Finding 1 source"/>
          <p:cNvSpPr txBox="1"/>
          <p:nvPr/>
        </p:nvSpPr>
        <p:spPr>
          <a:xfrm>
            <a:off x="4096512" y="24505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Pardo et al., Nature Ecology &amp; Evolution, 2024</a:t>
            </a:r>
            <a:endParaRPr lang="en-US" sz="900" dirty="0"/>
          </a:p>
        </p:txBody>
      </p:sp>
      <p:sp>
        <p:nvSpPr>
          <p:cNvPr id="9" name="Finding 2 card"/>
          <p:cNvSpPr/>
          <p:nvPr/>
        </p:nvSpPr>
        <p:spPr>
          <a:xfrm>
            <a:off x="6355080" y="1463040"/>
            <a:ext cx="2286000" cy="1399032"/>
          </a:xfrm>
          <a:prstGeom prst="roundRect">
            <a:avLst>
              <a:gd name="adj" fmla="val 52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Finding 2"/>
          <p:cNvSpPr txBox="1"/>
          <p:nvPr/>
        </p:nvSpPr>
        <p:spPr>
          <a:xfrm>
            <a:off x="6519672" y="1609344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Dolphins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answer to their own signature whistle.</a:t>
            </a:r>
            <a:endParaRPr lang="en-US" sz="1500" dirty="0"/>
          </a:p>
        </p:txBody>
      </p:sp>
      <p:sp>
        <p:nvSpPr>
          <p:cNvPr id="11" name="Finding 2 source"/>
          <p:cNvSpPr txBox="1"/>
          <p:nvPr/>
        </p:nvSpPr>
        <p:spPr>
          <a:xfrm>
            <a:off x="6519672" y="245059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King &amp; Janik, PNAS, 2013</a:t>
            </a:r>
            <a:endParaRPr lang="en-US" sz="900" dirty="0"/>
          </a:p>
        </p:txBody>
      </p:sp>
      <p:sp>
        <p:nvSpPr>
          <p:cNvPr id="12" name="Finding 3 card"/>
          <p:cNvSpPr/>
          <p:nvPr/>
        </p:nvSpPr>
        <p:spPr>
          <a:xfrm>
            <a:off x="3931920" y="2999232"/>
            <a:ext cx="2286000" cy="1399032"/>
          </a:xfrm>
          <a:prstGeom prst="roundRect">
            <a:avLst>
              <a:gd name="adj" fmla="val 52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inding 3"/>
          <p:cNvSpPr txBox="1"/>
          <p:nvPr/>
        </p:nvSpPr>
        <p:spPr>
          <a:xfrm>
            <a:off x="4096512" y="3145536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Prairie dogs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describe an intruder's size, shape and colour.</a:t>
            </a:r>
            <a:endParaRPr lang="en-US" sz="1500" dirty="0"/>
          </a:p>
        </p:txBody>
      </p:sp>
      <p:sp>
        <p:nvSpPr>
          <p:cNvPr id="14" name="Finding 3 source"/>
          <p:cNvSpPr txBox="1"/>
          <p:nvPr/>
        </p:nvSpPr>
        <p:spPr>
          <a:xfrm>
            <a:off x="4096512" y="3986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Slobodchikoff et al., Animal Cognition, 2009</a:t>
            </a:r>
            <a:endParaRPr lang="en-US" sz="900" dirty="0"/>
          </a:p>
        </p:txBody>
      </p:sp>
      <p:sp>
        <p:nvSpPr>
          <p:cNvPr id="15" name="Finding 4 card"/>
          <p:cNvSpPr/>
          <p:nvPr/>
        </p:nvSpPr>
        <p:spPr>
          <a:xfrm>
            <a:off x="6355080" y="2999232"/>
            <a:ext cx="2286000" cy="1399032"/>
          </a:xfrm>
          <a:prstGeom prst="roundRect">
            <a:avLst>
              <a:gd name="adj" fmla="val 52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inding 4"/>
          <p:cNvSpPr txBox="1"/>
          <p:nvPr/>
        </p:nvSpPr>
        <p:spPr>
          <a:xfrm>
            <a:off x="6519672" y="3145536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Songbirds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change meaning when call order changes.</a:t>
            </a:r>
            <a:endParaRPr lang="en-US" sz="1500" dirty="0"/>
          </a:p>
        </p:txBody>
      </p:sp>
      <p:sp>
        <p:nvSpPr>
          <p:cNvPr id="17" name="Finding 4 source"/>
          <p:cNvSpPr txBox="1"/>
          <p:nvPr/>
        </p:nvSpPr>
        <p:spPr>
          <a:xfrm>
            <a:off x="6519672" y="398678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Suzuki et al., Nature Communications, 2016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One instrument, </a:t>
            </a:r>
            <a:pPr algn="l" indent="0" marL="0">
              <a:buNone/>
            </a:pPr>
            <a:r>
              <a:rPr lang="en-US" sz="3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</a:t>
            </a:r>
            <a:endParaRPr lang="en-US" sz="3000" dirty="0"/>
          </a:p>
        </p:txBody>
      </p:sp>
      <p:pic>
        <p:nvPicPr>
          <p:cNvPr id="4" name="FT-1 image" descr="C:\Users\User\AppData\Local\Temp\claude\C--Users-User--claude-spares-spare-ATsgXI\a3bcac27-83b4-4a82-b9f2-009521039e26\scratchpad\deck\img\ft1-f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2743200" cy="2807208"/>
          </a:xfrm>
          <a:prstGeom prst="rect">
            <a:avLst/>
          </a:prstGeom>
        </p:spPr>
      </p:pic>
      <p:sp>
        <p:nvSpPr>
          <p:cNvPr id="5" name="FT-1 caption"/>
          <p:cNvSpPr txBox="1"/>
          <p:nvPr/>
        </p:nvSpPr>
        <p:spPr>
          <a:xfrm>
            <a:off x="45720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FT-1 field transmitter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Powered by Decode-3, our translation model</a:t>
            </a:r>
            <a:endParaRPr lang="en-US" sz="1000" dirty="0"/>
          </a:p>
        </p:txBody>
      </p:sp>
      <p:sp>
        <p:nvSpPr>
          <p:cNvPr id="6" name="Layer 01 badge"/>
          <p:cNvSpPr/>
          <p:nvPr/>
        </p:nvSpPr>
        <p:spPr>
          <a:xfrm>
            <a:off x="4389120" y="14356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ayer 01 number"/>
          <p:cNvSpPr txBox="1"/>
          <p:nvPr/>
        </p:nvSpPr>
        <p:spPr>
          <a:xfrm>
            <a:off x="438912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Layer 01 text"/>
          <p:cNvSpPr txBox="1"/>
          <p:nvPr/>
        </p:nvSpPr>
        <p:spPr>
          <a:xfrm>
            <a:off x="4983480" y="139903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Listen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Mic arrays and hydrophones capture 1 Hz to 150 kHz, from elephant rumbles to dolphin clicks.</a:t>
            </a:r>
            <a:endParaRPr lang="en-US" sz="1400" dirty="0"/>
          </a:p>
        </p:txBody>
      </p:sp>
      <p:sp>
        <p:nvSpPr>
          <p:cNvPr id="9" name="Layer 02 badge"/>
          <p:cNvSpPr/>
          <p:nvPr/>
        </p:nvSpPr>
        <p:spPr>
          <a:xfrm>
            <a:off x="4389120" y="22219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Layer 02 number"/>
          <p:cNvSpPr txBox="1"/>
          <p:nvPr/>
        </p:nvSpPr>
        <p:spPr>
          <a:xfrm>
            <a:off x="438912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Layer 02 text"/>
          <p:cNvSpPr txBox="1"/>
          <p:nvPr/>
        </p:nvSpPr>
        <p:spPr>
          <a:xfrm>
            <a:off x="4983480" y="218541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Segment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On-board DSP splits each signal into units (clicks, whistles, chirps) and strips noise.</a:t>
            </a:r>
            <a:endParaRPr lang="en-US" sz="1400" dirty="0"/>
          </a:p>
        </p:txBody>
      </p:sp>
      <p:sp>
        <p:nvSpPr>
          <p:cNvPr id="12" name="Layer 03 badge"/>
          <p:cNvSpPr/>
          <p:nvPr/>
        </p:nvSpPr>
        <p:spPr>
          <a:xfrm>
            <a:off x="4389120" y="30083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Layer 03 number"/>
          <p:cNvSpPr txBox="1"/>
          <p:nvPr/>
        </p:nvSpPr>
        <p:spPr>
          <a:xfrm>
            <a:off x="438912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Layer 03 text"/>
          <p:cNvSpPr txBox="1"/>
          <p:nvPr/>
        </p:nvSpPr>
        <p:spPr>
          <a:xfrm>
            <a:off x="4983480" y="29718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Map meaning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Decode-3 links each unit to context: who was near, what happened next.</a:t>
            </a:r>
            <a:endParaRPr lang="en-US" sz="1400" dirty="0"/>
          </a:p>
        </p:txBody>
      </p:sp>
      <p:sp>
        <p:nvSpPr>
          <p:cNvPr id="15" name="Layer 04 badge"/>
          <p:cNvSpPr/>
          <p:nvPr/>
        </p:nvSpPr>
        <p:spPr>
          <a:xfrm>
            <a:off x="4389120" y="37947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Layer 04 number"/>
          <p:cNvSpPr txBox="1"/>
          <p:nvPr/>
        </p:nvSpPr>
        <p:spPr>
          <a:xfrm>
            <a:off x="438912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04</a:t>
            </a:r>
            <a:endParaRPr lang="en-US" sz="1100" dirty="0"/>
          </a:p>
        </p:txBody>
      </p:sp>
      <p:sp>
        <p:nvSpPr>
          <p:cNvPr id="17" name="Layer 04 text"/>
          <p:cNvSpPr txBox="1"/>
          <p:nvPr/>
        </p:nvSpPr>
        <p:spPr>
          <a:xfrm>
            <a:off x="4983480" y="375818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Emit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4"/>
                </a:solidFill>
              </a:rPr>
              <a:t>Your sentence is composed from the species' own call units, under research permits.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THE PRODUCT IN USE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Say something. </a:t>
            </a:r>
            <a:pPr algn="l"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answers</a:t>
            </a:r>
            <a:endParaRPr lang="en-US" sz="3000" dirty="0"/>
          </a:p>
        </p:txBody>
      </p:sp>
      <p:sp>
        <p:nvSpPr>
          <p:cNvPr id="4" name="Point 1 header"/>
          <p:cNvSpPr txBox="1"/>
          <p:nvPr/>
        </p:nvSpPr>
        <p:spPr>
          <a:xfrm>
            <a:off x="45720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a channel</a:t>
            </a:r>
            <a:endParaRPr lang="en-US" sz="1500" dirty="0"/>
          </a:p>
        </p:txBody>
      </p:sp>
      <p:sp>
        <p:nvSpPr>
          <p:cNvPr id="5" name="Point 1 body"/>
          <p:cNvSpPr txBox="1"/>
          <p:nvPr/>
        </p:nvSpPr>
        <p:spPr>
          <a:xfrm>
            <a:off x="457200" y="17556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Type a sentence; FT-1 encodes it into a species' own call units.</a:t>
            </a:r>
            <a:endParaRPr lang="en-US" sz="1200" dirty="0"/>
          </a:p>
        </p:txBody>
      </p:sp>
      <p:sp>
        <p:nvSpPr>
          <p:cNvPr id="6" name="Point 2 header"/>
          <p:cNvSpPr txBox="1"/>
          <p:nvPr/>
        </p:nvSpPr>
        <p:spPr>
          <a:xfrm>
            <a:off x="45720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the reply</a:t>
            </a:r>
            <a:endParaRPr lang="en-US" sz="1500" dirty="0"/>
          </a:p>
        </p:txBody>
      </p:sp>
      <p:sp>
        <p:nvSpPr>
          <p:cNvPr id="7" name="Point 2 body"/>
          <p:cNvSpPr txBox="1"/>
          <p:nvPr/>
        </p:nvSpPr>
        <p:spPr>
          <a:xfrm>
            <a:off x="457200" y="2743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Decode-3 returns a decoded hypothesis with a confidence score, never a quotation.</a:t>
            </a:r>
            <a:endParaRPr lang="en-US" sz="1200" dirty="0"/>
          </a:p>
        </p:txBody>
      </p:sp>
      <p:sp>
        <p:nvSpPr>
          <p:cNvPr id="8" name="Point 3 header"/>
          <p:cNvSpPr txBox="1"/>
          <p:nvPr/>
        </p:nvSpPr>
        <p:spPr>
          <a:xfrm>
            <a:off x="457200" y="3438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Trust the source</a:t>
            </a:r>
            <a:endParaRPr lang="en-US" sz="1500" dirty="0"/>
          </a:p>
        </p:txBody>
      </p:sp>
      <p:sp>
        <p:nvSpPr>
          <p:cNvPr id="9" name="Point 3 body"/>
          <p:cNvSpPr txBox="1"/>
          <p:nvPr/>
        </p:nvSpPr>
        <p:spPr>
          <a:xfrm>
            <a:off x="457200" y="3730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Every reply cites the field research behind it.</a:t>
            </a:r>
            <a:endParaRPr lang="en-US" sz="1200" dirty="0"/>
          </a:p>
        </p:txBody>
      </p:sp>
      <p:sp>
        <p:nvSpPr>
          <p:cNvPr id="10" name="Console card"/>
          <p:cNvSpPr/>
          <p:nvPr/>
        </p:nvSpPr>
        <p:spPr>
          <a:xfrm>
            <a:off x="4206240" y="1417320"/>
            <a:ext cx="4480560" cy="3108960"/>
          </a:xfrm>
          <a:prstGeom prst="roundRect">
            <a:avLst>
              <a:gd name="adj" fmla="val 294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ve light"/>
          <p:cNvSpPr/>
          <p:nvPr/>
        </p:nvSpPr>
        <p:spPr>
          <a:xfrm>
            <a:off x="4434840" y="166420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onsole header"/>
          <p:cNvSpPr txBox="1"/>
          <p:nvPr/>
        </p:nvSpPr>
        <p:spPr>
          <a:xfrm>
            <a:off x="4617720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4"/>
                </a:solidFill>
              </a:rPr>
              <a:t>CHANNEL  ·  PRAIRIE DOG  ·  DECODE-3 LIVE</a:t>
            </a:r>
            <a:endParaRPr lang="en-US" sz="900" dirty="0"/>
          </a:p>
        </p:txBody>
      </p:sp>
      <p:sp>
        <p:nvSpPr>
          <p:cNvPr id="13" name="Researcher message"/>
          <p:cNvSpPr txBox="1"/>
          <p:nvPr/>
        </p:nvSpPr>
        <p:spPr>
          <a:xfrm>
            <a:off x="44348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You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I'm walking toward your colony.</a:t>
            </a:r>
            <a:endParaRPr lang="en-US" sz="1200" dirty="0"/>
          </a:p>
        </p:txBody>
      </p:sp>
      <p:sp>
        <p:nvSpPr>
          <p:cNvPr id="14" name="Signal bar 1"/>
          <p:cNvSpPr/>
          <p:nvPr/>
        </p:nvSpPr>
        <p:spPr>
          <a:xfrm>
            <a:off x="4434840" y="2516886"/>
            <a:ext cx="91440" cy="22631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ignal bar 2"/>
          <p:cNvSpPr/>
          <p:nvPr/>
        </p:nvSpPr>
        <p:spPr>
          <a:xfrm>
            <a:off x="4581144" y="2414016"/>
            <a:ext cx="91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ignal bar 3"/>
          <p:cNvSpPr/>
          <p:nvPr/>
        </p:nvSpPr>
        <p:spPr>
          <a:xfrm>
            <a:off x="4727448" y="2455164"/>
            <a:ext cx="91440" cy="2880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ignal bar 4"/>
          <p:cNvSpPr/>
          <p:nvPr/>
        </p:nvSpPr>
        <p:spPr>
          <a:xfrm>
            <a:off x="4873752" y="2393442"/>
            <a:ext cx="91440" cy="34975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ignal bar 5"/>
          <p:cNvSpPr/>
          <p:nvPr/>
        </p:nvSpPr>
        <p:spPr>
          <a:xfrm>
            <a:off x="5020056" y="2496312"/>
            <a:ext cx="91440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ignal bar 6"/>
          <p:cNvSpPr/>
          <p:nvPr/>
        </p:nvSpPr>
        <p:spPr>
          <a:xfrm>
            <a:off x="5166360" y="2414016"/>
            <a:ext cx="91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ignal bar 7"/>
          <p:cNvSpPr/>
          <p:nvPr/>
        </p:nvSpPr>
        <p:spPr>
          <a:xfrm>
            <a:off x="5312664" y="2434590"/>
            <a:ext cx="91440" cy="3086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ignal bar 8"/>
          <p:cNvSpPr/>
          <p:nvPr/>
        </p:nvSpPr>
        <p:spPr>
          <a:xfrm>
            <a:off x="5458968" y="2372868"/>
            <a:ext cx="91440" cy="370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ignal bar 9"/>
          <p:cNvSpPr/>
          <p:nvPr/>
        </p:nvSpPr>
        <p:spPr>
          <a:xfrm>
            <a:off x="5605272" y="2475738"/>
            <a:ext cx="91440" cy="2674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ignal bar 10"/>
          <p:cNvSpPr/>
          <p:nvPr/>
        </p:nvSpPr>
        <p:spPr>
          <a:xfrm>
            <a:off x="5751576" y="2414016"/>
            <a:ext cx="91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ignal bar 11"/>
          <p:cNvSpPr/>
          <p:nvPr/>
        </p:nvSpPr>
        <p:spPr>
          <a:xfrm>
            <a:off x="5897880" y="2455164"/>
            <a:ext cx="91440" cy="2880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ignal bar 12"/>
          <p:cNvSpPr/>
          <p:nvPr/>
        </p:nvSpPr>
        <p:spPr>
          <a:xfrm>
            <a:off x="6044184" y="2393442"/>
            <a:ext cx="91440" cy="34975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ignal bar 13"/>
          <p:cNvSpPr/>
          <p:nvPr/>
        </p:nvSpPr>
        <p:spPr>
          <a:xfrm>
            <a:off x="6190488" y="2537460"/>
            <a:ext cx="91440" cy="2057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Signal bar 14"/>
          <p:cNvSpPr/>
          <p:nvPr/>
        </p:nvSpPr>
        <p:spPr>
          <a:xfrm>
            <a:off x="6336792" y="2434590"/>
            <a:ext cx="91440" cy="30861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Signal bar 15"/>
          <p:cNvSpPr/>
          <p:nvPr/>
        </p:nvSpPr>
        <p:spPr>
          <a:xfrm>
            <a:off x="6483096" y="2496312"/>
            <a:ext cx="91440" cy="2468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ignal bar 16"/>
          <p:cNvSpPr/>
          <p:nvPr/>
        </p:nvSpPr>
        <p:spPr>
          <a:xfrm>
            <a:off x="6629400" y="2414016"/>
            <a:ext cx="91440" cy="32918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ignal bar 17"/>
          <p:cNvSpPr/>
          <p:nvPr/>
        </p:nvSpPr>
        <p:spPr>
          <a:xfrm>
            <a:off x="6775704" y="2455164"/>
            <a:ext cx="91440" cy="28803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ignal bar 18"/>
          <p:cNvSpPr/>
          <p:nvPr/>
        </p:nvSpPr>
        <p:spPr>
          <a:xfrm>
            <a:off x="6922008" y="2372868"/>
            <a:ext cx="91440" cy="370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Signal label"/>
          <p:cNvSpPr txBox="1"/>
          <p:nvPr/>
        </p:nvSpPr>
        <p:spPr>
          <a:xfrm>
            <a:off x="726948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Alarm chirp series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12 units · 2.4 s</a:t>
            </a:r>
            <a:endParaRPr lang="en-US" sz="900" dirty="0"/>
          </a:p>
        </p:txBody>
      </p:sp>
      <p:sp>
        <p:nvSpPr>
          <p:cNvPr id="33" name="Decoded reply"/>
          <p:cNvSpPr txBox="1"/>
          <p:nvPr/>
        </p:nvSpPr>
        <p:spPr>
          <a:xfrm>
            <a:off x="4434840" y="289864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“Tall one. Blue on top. Slow. Not a hawk. Everybody up, but do not run yet.”</a:t>
            </a:r>
            <a:endParaRPr lang="en-US" sz="1400" dirty="0"/>
          </a:p>
        </p:txBody>
      </p:sp>
      <p:sp>
        <p:nvSpPr>
          <p:cNvPr id="34" name="Confidence label"/>
          <p:cNvSpPr txBox="1"/>
          <p:nvPr/>
        </p:nvSpPr>
        <p:spPr>
          <a:xfrm>
            <a:off x="4434840" y="35753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Confidence</a:t>
            </a:r>
            <a:endParaRPr lang="en-US" sz="900" dirty="0"/>
          </a:p>
        </p:txBody>
      </p:sp>
      <p:sp>
        <p:nvSpPr>
          <p:cNvPr id="35" name="Confidence track"/>
          <p:cNvSpPr/>
          <p:nvPr/>
        </p:nvSpPr>
        <p:spPr>
          <a:xfrm>
            <a:off x="5257800" y="3630168"/>
            <a:ext cx="27432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Confidence fill"/>
          <p:cNvSpPr/>
          <p:nvPr/>
        </p:nvSpPr>
        <p:spPr>
          <a:xfrm>
            <a:off x="5257800" y="3630168"/>
            <a:ext cx="2029968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Confidence value"/>
          <p:cNvSpPr txBox="1"/>
          <p:nvPr/>
        </p:nvSpPr>
        <p:spPr>
          <a:xfrm>
            <a:off x="8046720" y="354787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0.74</a:t>
            </a:r>
            <a:endParaRPr lang="en-US" sz="1000" dirty="0"/>
          </a:p>
        </p:txBody>
      </p:sp>
      <p:sp>
        <p:nvSpPr>
          <p:cNvPr id="38" name="Field note"/>
          <p:cNvSpPr txBox="1"/>
          <p:nvPr/>
        </p:nvSpPr>
        <p:spPr>
          <a:xfrm>
            <a:off x="4434840" y="38679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Field note  </a:t>
            </a:r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Prairie dog alarm calls encode an intruder's size, shape and clothing colour. Slobodchikoff et al., 2009.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MARKET &amp; MODEL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Who pays to </a:t>
            </a:r>
            <a:pPr algn="l"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</a:t>
            </a:r>
            <a:endParaRPr lang="en-US" sz="3000" dirty="0"/>
          </a:p>
        </p:txBody>
      </p:sp>
      <p:sp>
        <p:nvSpPr>
          <p:cNvPr id="4" name="Col head customer"/>
          <p:cNvSpPr txBox="1"/>
          <p:nvPr/>
        </p:nvSpPr>
        <p:spPr>
          <a:xfrm>
            <a:off x="109728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6"/>
                </a:solidFill>
              </a:rPr>
              <a:t>CUSTOMER</a:t>
            </a:r>
            <a:endParaRPr lang="en-US" sz="900" dirty="0"/>
          </a:p>
        </p:txBody>
      </p:sp>
      <p:sp>
        <p:nvSpPr>
          <p:cNvPr id="5" name="Col head revenue"/>
          <p:cNvSpPr txBox="1"/>
          <p:nvPr/>
        </p:nvSpPr>
        <p:spPr>
          <a:xfrm>
            <a:off x="6309360" y="13258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6"/>
                </a:solidFill>
              </a:rPr>
              <a:t>WHAT THEY BUY</a:t>
            </a:r>
            <a:endParaRPr lang="en-US" sz="900" dirty="0"/>
          </a:p>
        </p:txBody>
      </p:sp>
      <p:sp>
        <p:nvSpPr>
          <p:cNvPr id="6" name="Segment 1 row"/>
          <p:cNvSpPr/>
          <p:nvPr/>
        </p:nvSpPr>
        <p:spPr>
          <a:xfrm>
            <a:off x="457200" y="162763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egment 1 icon circle"/>
          <p:cNvSpPr/>
          <p:nvPr/>
        </p:nvSpPr>
        <p:spPr>
          <a:xfrm>
            <a:off x="566928" y="1737360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8" name="Segme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28800"/>
            <a:ext cx="219456" cy="219456"/>
          </a:xfrm>
          <a:prstGeom prst="rect">
            <a:avLst/>
          </a:prstGeom>
        </p:spPr>
      </p:pic>
      <p:sp>
        <p:nvSpPr>
          <p:cNvPr id="9" name="Segment 1 text"/>
          <p:cNvSpPr txBox="1"/>
          <p:nvPr/>
        </p:nvSpPr>
        <p:spPr>
          <a:xfrm>
            <a:off x="1097280" y="170078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Conservation &amp; wildlife agencies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Track populations by listening instead of tagging or trapping.</a:t>
            </a:r>
            <a:endParaRPr lang="en-US" sz="1300" dirty="0"/>
          </a:p>
        </p:txBody>
      </p:sp>
      <p:sp>
        <p:nvSpPr>
          <p:cNvPr id="10" name="Segment 1 pill"/>
          <p:cNvSpPr/>
          <p:nvPr/>
        </p:nvSpPr>
        <p:spPr>
          <a:xfrm>
            <a:off x="6309360" y="178308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egment 1 revenue"/>
          <p:cNvSpPr txBox="1"/>
          <p:nvPr/>
        </p:nvSpPr>
        <p:spPr>
          <a:xfrm>
            <a:off x="6309360" y="17830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Field Console subscription</a:t>
            </a:r>
            <a:endParaRPr lang="en-US" sz="1000" dirty="0"/>
          </a:p>
        </p:txBody>
      </p:sp>
      <p:sp>
        <p:nvSpPr>
          <p:cNvPr id="12" name="Segment 2 row"/>
          <p:cNvSpPr/>
          <p:nvPr/>
        </p:nvSpPr>
        <p:spPr>
          <a:xfrm>
            <a:off x="457200" y="235915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egment 2 icon circle"/>
          <p:cNvSpPr/>
          <p:nvPr/>
        </p:nvSpPr>
        <p:spPr>
          <a:xfrm>
            <a:off x="566928" y="2468880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Segme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60320"/>
            <a:ext cx="219456" cy="219456"/>
          </a:xfrm>
          <a:prstGeom prst="rect">
            <a:avLst/>
          </a:prstGeom>
        </p:spPr>
      </p:pic>
      <p:sp>
        <p:nvSpPr>
          <p:cNvPr id="15" name="Segment 2 text"/>
          <p:cNvSpPr txBox="1"/>
          <p:nvPr/>
        </p:nvSpPr>
        <p:spPr>
          <a:xfrm>
            <a:off x="1097280" y="24323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Offshore energy &amp; shipping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Detect whales and dolphins before noisy operations begin.</a:t>
            </a:r>
            <a:endParaRPr lang="en-US" sz="1300" dirty="0"/>
          </a:p>
        </p:txBody>
      </p:sp>
      <p:sp>
        <p:nvSpPr>
          <p:cNvPr id="16" name="Segment 2 pill"/>
          <p:cNvSpPr/>
          <p:nvPr/>
        </p:nvSpPr>
        <p:spPr>
          <a:xfrm>
            <a:off x="6309360" y="251460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egment 2 revenue"/>
          <p:cNvSpPr txBox="1"/>
          <p:nvPr/>
        </p:nvSpPr>
        <p:spPr>
          <a:xfrm>
            <a:off x="6309360" y="25146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FT-1 fleet leasing</a:t>
            </a:r>
            <a:endParaRPr lang="en-US" sz="1000" dirty="0"/>
          </a:p>
        </p:txBody>
      </p:sp>
      <p:sp>
        <p:nvSpPr>
          <p:cNvPr id="18" name="Segment 3 row"/>
          <p:cNvSpPr/>
          <p:nvPr/>
        </p:nvSpPr>
        <p:spPr>
          <a:xfrm>
            <a:off x="457200" y="309067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egment 3 icon circle"/>
          <p:cNvSpPr/>
          <p:nvPr/>
        </p:nvSpPr>
        <p:spPr>
          <a:xfrm>
            <a:off x="566928" y="3200400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0" name="Segme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91840"/>
            <a:ext cx="219456" cy="219456"/>
          </a:xfrm>
          <a:prstGeom prst="rect">
            <a:avLst/>
          </a:prstGeom>
        </p:spPr>
      </p:pic>
      <p:sp>
        <p:nvSpPr>
          <p:cNvPr id="21" name="Segment 3 text"/>
          <p:cNvSpPr txBox="1"/>
          <p:nvPr/>
        </p:nvSpPr>
        <p:spPr>
          <a:xfrm>
            <a:off x="1097280" y="316382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Zoos, aquariums &amp; sanctuaries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Read stress and welfare signals as they happen.</a:t>
            </a:r>
            <a:endParaRPr lang="en-US" sz="1300" dirty="0"/>
          </a:p>
        </p:txBody>
      </p:sp>
      <p:sp>
        <p:nvSpPr>
          <p:cNvPr id="22" name="Segment 3 pill"/>
          <p:cNvSpPr/>
          <p:nvPr/>
        </p:nvSpPr>
        <p:spPr>
          <a:xfrm>
            <a:off x="6309360" y="324612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egment 3 revenue"/>
          <p:cNvSpPr txBox="1"/>
          <p:nvPr/>
        </p:nvSpPr>
        <p:spPr>
          <a:xfrm>
            <a:off x="6309360" y="32461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Console + FT-1 bundle</a:t>
            </a:r>
            <a:endParaRPr lang="en-US" sz="1000" dirty="0"/>
          </a:p>
        </p:txBody>
      </p:sp>
      <p:sp>
        <p:nvSpPr>
          <p:cNvPr id="24" name="Segment 4 row"/>
          <p:cNvSpPr/>
          <p:nvPr/>
        </p:nvSpPr>
        <p:spPr>
          <a:xfrm>
            <a:off x="457200" y="3822192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egment 4 icon circle"/>
          <p:cNvSpPr/>
          <p:nvPr/>
        </p:nvSpPr>
        <p:spPr>
          <a:xfrm>
            <a:off x="566928" y="3931920"/>
            <a:ext cx="402336" cy="40233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6" name="Segmen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23360"/>
            <a:ext cx="219456" cy="219456"/>
          </a:xfrm>
          <a:prstGeom prst="rect">
            <a:avLst/>
          </a:prstGeom>
        </p:spPr>
      </p:pic>
      <p:sp>
        <p:nvSpPr>
          <p:cNvPr id="27" name="Segment 4 text"/>
          <p:cNvSpPr txBox="1"/>
          <p:nvPr/>
        </p:nvSpPr>
        <p:spPr>
          <a:xfrm>
            <a:off x="1097280" y="389534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Universities &amp; research labs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Build on our models and labelled field corpus.</a:t>
            </a:r>
            <a:endParaRPr lang="en-US" sz="1300" dirty="0"/>
          </a:p>
        </p:txBody>
      </p:sp>
      <p:sp>
        <p:nvSpPr>
          <p:cNvPr id="28" name="Segment 4 pill"/>
          <p:cNvSpPr/>
          <p:nvPr/>
        </p:nvSpPr>
        <p:spPr>
          <a:xfrm>
            <a:off x="6309360" y="397764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Segment 4 revenue"/>
          <p:cNvSpPr txBox="1"/>
          <p:nvPr/>
        </p:nvSpPr>
        <p:spPr>
          <a:xfrm>
            <a:off x="6309360" y="39776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Decode-3 API &amp; data licence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image" descr="C:\Users\User\AppData\Local\Temp\claude\C--Users-User--claude-spares-spare-ATsgXI\a3bcac27-83b4-4a82-b9f2-009521039e26\scratchpad\deck\img\K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78000"/>
            </a:schemeClr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Footer logo" descr="C:\Users\User\AppData\Local\Temp\claude\C--Users-User--claude-spares-spare-ATsgXI\a3bcac27-83b4-4a82-b9f2-009521039e26\scratchpad\deck\img\logo-dark-204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749808" cy="146304"/>
          </a:xfrm>
          <a:prstGeom prst="rect">
            <a:avLst/>
          </a:prstGeom>
        </p:spPr>
      </p:pic>
      <p:sp>
        <p:nvSpPr>
          <p:cNvPr id="5" name="Footer text"/>
          <p:cNvSpPr txBox="1"/>
          <p:nvPr/>
        </p:nvSpPr>
        <p:spPr>
          <a:xfrm>
            <a:off x="1325880" y="4681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Interspecies Signal Lab</a:t>
            </a:r>
            <a:endParaRPr lang="en-US" sz="9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TRACTION &amp; MOAT</a:t>
            </a:r>
            <a:endParaRPr lang="en-US" sz="1000" dirty="0"/>
          </a:p>
        </p:txBody>
      </p:sp>
      <p:sp>
        <p:nvSpPr>
          <p:cNvPr id="7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Early proof, </a:t>
            </a:r>
            <a:pPr algn="l" indent="0" marL="0">
              <a:buNone/>
            </a:pPr>
            <a:r>
              <a:rPr lang="en-US" sz="3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compound</a:t>
            </a:r>
            <a:endParaRPr lang="en-US" sz="3000" dirty="0"/>
          </a:p>
        </p:txBody>
      </p:sp>
      <p:sp>
        <p:nvSpPr>
          <p:cNvPr id="8" name="Stat 1 value"/>
          <p:cNvSpPr txBox="1"/>
          <p:nvPr/>
        </p:nvSpPr>
        <p:spPr>
          <a:xfrm>
            <a:off x="45720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112k</a:t>
            </a:r>
            <a:endParaRPr lang="en-US" sz="4800" dirty="0"/>
          </a:p>
        </p:txBody>
      </p:sp>
      <p:sp>
        <p:nvSpPr>
          <p:cNvPr id="9" name="Stat 1 label"/>
          <p:cNvSpPr txBox="1"/>
          <p:nvPr/>
        </p:nvSpPr>
        <p:spPr>
          <a:xfrm>
            <a:off x="45720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hours of field recordings</a:t>
            </a:r>
            <a:endParaRPr lang="en-US" sz="1200" dirty="0"/>
          </a:p>
        </p:txBody>
      </p:sp>
      <p:sp>
        <p:nvSpPr>
          <p:cNvPr id="10" name="Stat 2 value"/>
          <p:cNvSpPr txBox="1"/>
          <p:nvPr/>
        </p:nvSpPr>
        <p:spPr>
          <a:xfrm>
            <a:off x="256032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11" name="Stat 2 label"/>
          <p:cNvSpPr txBox="1"/>
          <p:nvPr/>
        </p:nvSpPr>
        <p:spPr>
          <a:xfrm>
            <a:off x="256032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species across sky, land and sea</a:t>
            </a:r>
            <a:endParaRPr lang="en-US" sz="1200" dirty="0"/>
          </a:p>
        </p:txBody>
      </p:sp>
      <p:sp>
        <p:nvSpPr>
          <p:cNvPr id="12" name="Stat 3 value"/>
          <p:cNvSpPr txBox="1"/>
          <p:nvPr/>
        </p:nvSpPr>
        <p:spPr>
          <a:xfrm>
            <a:off x="466344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13" name="Stat 3 label"/>
          <p:cNvSpPr txBox="1"/>
          <p:nvPr/>
        </p:nvSpPr>
        <p:spPr>
          <a:xfrm>
            <a:off x="46634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field stations</a:t>
            </a:r>
            <a:endParaRPr lang="en-US" sz="1200" dirty="0"/>
          </a:p>
        </p:txBody>
      </p:sp>
      <p:sp>
        <p:nvSpPr>
          <p:cNvPr id="14" name="Stat 4 value"/>
          <p:cNvSpPr txBox="1"/>
          <p:nvPr/>
        </p:nvSpPr>
        <p:spPr>
          <a:xfrm>
            <a:off x="6766560" y="1508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15" name="Stat 4 label"/>
          <p:cNvSpPr txBox="1"/>
          <p:nvPr/>
        </p:nvSpPr>
        <p:spPr>
          <a:xfrm>
            <a:off x="676656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working FT-1 layers</a:t>
            </a:r>
            <a:endParaRPr lang="en-US" sz="1200" dirty="0"/>
          </a:p>
        </p:txBody>
      </p:sp>
      <p:sp>
        <p:nvSpPr>
          <p:cNvPr id="16" name="Moat 1 card"/>
          <p:cNvSpPr/>
          <p:nvPr/>
        </p:nvSpPr>
        <p:spPr>
          <a:xfrm>
            <a:off x="457200" y="31546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tx1">
              <a:alpha val="8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Moat 1 text"/>
          <p:cNvSpPr txBox="1"/>
          <p:nvPr/>
        </p:nvSpPr>
        <p:spPr>
          <a:xfrm>
            <a:off x="640080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Data flywheel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Every channel adds labelled context that sharpens Decode-3.</a:t>
            </a:r>
            <a:endParaRPr lang="en-US" sz="1400" dirty="0"/>
          </a:p>
        </p:txBody>
      </p:sp>
      <p:sp>
        <p:nvSpPr>
          <p:cNvPr id="18" name="Moat 2 card"/>
          <p:cNvSpPr/>
          <p:nvPr/>
        </p:nvSpPr>
        <p:spPr>
          <a:xfrm>
            <a:off x="3246120" y="31546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tx1">
              <a:alpha val="8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Moat 2 text"/>
          <p:cNvSpPr txBox="1"/>
          <p:nvPr/>
        </p:nvSpPr>
        <p:spPr>
          <a:xfrm>
            <a:off x="3429000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Protocol as product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Research permits and welfare review built into the emit layer.</a:t>
            </a:r>
            <a:endParaRPr lang="en-US" sz="1400" dirty="0"/>
          </a:p>
        </p:txBody>
      </p:sp>
      <p:sp>
        <p:nvSpPr>
          <p:cNvPr id="20" name="Moat 3 card"/>
          <p:cNvSpPr/>
          <p:nvPr/>
        </p:nvSpPr>
        <p:spPr>
          <a:xfrm>
            <a:off x="6035040" y="315468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tx1">
              <a:alpha val="8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Moat 3 text"/>
          <p:cNvSpPr txBox="1"/>
          <p:nvPr/>
        </p:nvSpPr>
        <p:spPr>
          <a:xfrm>
            <a:off x="6217920" y="331012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A trusted name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One lab identity across every station, record and reply.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VISION &amp; THE ASK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60350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From six voices to </a:t>
            </a:r>
            <a:pPr algn="l" indent="0" marL="0">
              <a:buNone/>
            </a:pPr>
            <a:r>
              <a:rPr lang="en-US" sz="3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voice on Earth</a:t>
            </a:r>
            <a:endParaRPr lang="en-US" sz="3000" dirty="0"/>
          </a:p>
        </p:txBody>
      </p:sp>
      <p:sp>
        <p:nvSpPr>
          <p:cNvPr id="4" name="Roadmap line"/>
          <p:cNvSpPr/>
          <p:nvPr/>
        </p:nvSpPr>
        <p:spPr>
          <a:xfrm>
            <a:off x="658368" y="1627632"/>
            <a:ext cx="0" cy="21031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Roadmap dot 1"/>
          <p:cNvSpPr/>
          <p:nvPr/>
        </p:nvSpPr>
        <p:spPr>
          <a:xfrm>
            <a:off x="548640" y="1517904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Roadmap 1"/>
          <p:cNvSpPr txBox="1"/>
          <p:nvPr/>
        </p:nvSpPr>
        <p:spPr>
          <a:xfrm>
            <a:off x="1005840" y="1463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Today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6 species, FT-1 prototype, public console preview</a:t>
            </a:r>
            <a:endParaRPr lang="en-US" sz="1400" dirty="0"/>
          </a:p>
        </p:txBody>
      </p:sp>
      <p:sp>
        <p:nvSpPr>
          <p:cNvPr id="7" name="Roadmap dot 2"/>
          <p:cNvSpPr/>
          <p:nvPr/>
        </p:nvSpPr>
        <p:spPr>
          <a:xfrm>
            <a:off x="548640" y="2505456"/>
            <a:ext cx="219456" cy="21945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Roadmap 2"/>
          <p:cNvSpPr txBox="1"/>
          <p:nvPr/>
        </p:nvSpPr>
        <p:spPr>
          <a:xfrm>
            <a:off x="1005840" y="2450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Next 18 months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20 species, a field fleet with partner agencies, the Decode-3 API</a:t>
            </a:r>
            <a:endParaRPr lang="en-US" sz="1400" dirty="0"/>
          </a:p>
        </p:txBody>
      </p:sp>
      <p:sp>
        <p:nvSpPr>
          <p:cNvPr id="9" name="Roadmap dot 3"/>
          <p:cNvSpPr/>
          <p:nvPr/>
        </p:nvSpPr>
        <p:spPr>
          <a:xfrm>
            <a:off x="548640" y="3493008"/>
            <a:ext cx="219456" cy="21945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Roadmap 3"/>
          <p:cNvSpPr txBox="1"/>
          <p:nvPr/>
        </p:nvSpPr>
        <p:spPr>
          <a:xfrm>
            <a:off x="1005840" y="34381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Long term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An open standard for interspecies communication</a:t>
            </a:r>
            <a:endParaRPr lang="en-US" sz="1400" dirty="0"/>
          </a:p>
        </p:txBody>
      </p:sp>
      <p:sp>
        <p:nvSpPr>
          <p:cNvPr id="11" name="Ask card"/>
          <p:cNvSpPr/>
          <p:nvPr/>
        </p:nvSpPr>
        <p:spPr>
          <a:xfrm>
            <a:off x="5120640" y="1417320"/>
            <a:ext cx="3566160" cy="3017520"/>
          </a:xfrm>
          <a:prstGeom prst="roundRect">
            <a:avLst>
              <a:gd name="adj" fmla="val 303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sk kicker"/>
          <p:cNvSpPr txBox="1"/>
          <p:nvPr/>
        </p:nvSpPr>
        <p:spPr>
          <a:xfrm>
            <a:off x="5394960" y="16733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tx1"/>
                </a:solidFill>
              </a:rPr>
              <a:t>RAISING</a:t>
            </a:r>
            <a:endParaRPr lang="en-US" sz="900" dirty="0"/>
          </a:p>
        </p:txBody>
      </p:sp>
      <p:sp>
        <p:nvSpPr>
          <p:cNvPr id="13" name="Ask amount"/>
          <p:cNvSpPr txBox="1"/>
          <p:nvPr/>
        </p:nvSpPr>
        <p:spPr>
          <a:xfrm>
            <a:off x="53949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$6M seed</a:t>
            </a:r>
            <a:endParaRPr lang="en-US" sz="4000" dirty="0"/>
          </a:p>
        </p:txBody>
      </p:sp>
      <p:sp>
        <p:nvSpPr>
          <p:cNvPr id="14" name="Fund 1 pct"/>
          <p:cNvSpPr txBox="1"/>
          <p:nvPr/>
        </p:nvSpPr>
        <p:spPr>
          <a:xfrm>
            <a:off x="5394960" y="2743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45%</a:t>
            </a:r>
            <a:endParaRPr lang="en-US" sz="1600" dirty="0"/>
          </a:p>
        </p:txBody>
      </p:sp>
      <p:sp>
        <p:nvSpPr>
          <p:cNvPr id="15" name="Fund 1 label"/>
          <p:cNvSpPr txBox="1"/>
          <p:nvPr/>
        </p:nvSpPr>
        <p:spPr>
          <a:xfrm>
            <a:off x="612648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Field stations &amp; FT-1 fleet</a:t>
            </a:r>
            <a:endParaRPr lang="en-US" sz="1200" dirty="0"/>
          </a:p>
        </p:txBody>
      </p:sp>
      <p:sp>
        <p:nvSpPr>
          <p:cNvPr id="16" name="Fund 2 pct"/>
          <p:cNvSpPr txBox="1"/>
          <p:nvPr/>
        </p:nvSpPr>
        <p:spPr>
          <a:xfrm>
            <a:off x="5394960" y="3200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35%</a:t>
            </a:r>
            <a:endParaRPr lang="en-US" sz="1600" dirty="0"/>
          </a:p>
        </p:txBody>
      </p:sp>
      <p:sp>
        <p:nvSpPr>
          <p:cNvPr id="17" name="Fund 2 label"/>
          <p:cNvSpPr txBox="1"/>
          <p:nvPr/>
        </p:nvSpPr>
        <p:spPr>
          <a:xfrm>
            <a:off x="6126480" y="3200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Decode-3 research</a:t>
            </a:r>
            <a:endParaRPr lang="en-US" sz="1200" dirty="0"/>
          </a:p>
        </p:txBody>
      </p:sp>
      <p:sp>
        <p:nvSpPr>
          <p:cNvPr id="18" name="Fund 3 pct"/>
          <p:cNvSpPr txBox="1"/>
          <p:nvPr/>
        </p:nvSpPr>
        <p:spPr>
          <a:xfrm>
            <a:off x="5394960" y="3657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20%</a:t>
            </a:r>
            <a:endParaRPr lang="en-US" sz="1600" dirty="0"/>
          </a:p>
        </p:txBody>
      </p:sp>
      <p:sp>
        <p:nvSpPr>
          <p:cNvPr id="19" name="Fund 3 label"/>
          <p:cNvSpPr txBox="1"/>
          <p:nvPr/>
        </p:nvSpPr>
        <p:spPr>
          <a:xfrm>
            <a:off x="6126480" y="3657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Partnerships &amp; ethics board</a:t>
            </a:r>
            <a:endParaRPr lang="en-US" sz="1200" dirty="0"/>
          </a:p>
        </p:txBody>
      </p:sp>
      <p:sp>
        <p:nvSpPr>
          <p:cNvPr id="20" name="Contact"/>
          <p:cNvSpPr txBox="1"/>
          <p:nvPr/>
        </p:nvSpPr>
        <p:spPr>
          <a:xfrm>
            <a:off x="53949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lab@morsis.org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rsis">
  <a:themeElements>
    <a:clrScheme name="Morsis">
      <a:dk1>
        <a:srgbClr val="10110D"/>
      </a:dk1>
      <a:lt1>
        <a:srgbClr val="F1F1EA"/>
      </a:lt1>
      <a:dk2>
        <a:srgbClr val="13240F"/>
      </a:dk2>
      <a:lt2>
        <a:srgbClr val="E6E7DD"/>
      </a:lt2>
      <a:accent1>
        <a:srgbClr val="D4F53F"/>
      </a:accent1>
      <a:accent2>
        <a:srgbClr val="5E7A1C"/>
      </a:accent2>
      <a:accent3>
        <a:srgbClr val="13240F"/>
      </a:accent3>
      <a:accent4>
        <a:srgbClr val="8F9283"/>
      </a:accent4>
      <a:accent5>
        <a:srgbClr val="23251E"/>
      </a:accent5>
      <a:accent6>
        <a:srgbClr val="5B5D52"/>
      </a:accent6>
      <a:hlink>
        <a:srgbClr val="5E7A1C"/>
      </a:hlink>
      <a:folHlink>
        <a:srgbClr val="5B5D52"/>
      </a:folHlink>
    </a:clrScheme>
    <a:fontScheme name="Mor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Morsis Interspecies Signal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Morsis — Investor presentation</dc:title>
  <dc:subject>PptxGenJS Presentation</dc:subject>
  <dc:creator>Morsis</dc:creator>
  <cp:lastModifiedBy>Morsis</cp:lastModifiedBy>
  <cp:revision>1</cp:revision>
  <dcterms:created xsi:type="dcterms:W3CDTF">2026-10-18T05:11:26Z</dcterms:created>
  <dcterms:modified xsi:type="dcterms:W3CDTF">2026-10-18T05:11:26Z</dcterms:modified>
</cp:coreProperties>
</file>